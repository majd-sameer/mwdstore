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54864" cy="6858000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097280"/>
            <a:ext cx="2468880" cy="100584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5440" y="2011680"/>
            <a:ext cx="2304288" cy="100584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0" y="2926080"/>
            <a:ext cx="2139696" cy="100584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5440" y="3840480"/>
            <a:ext cx="1975104" cy="100584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4754880"/>
            <a:ext cx="1810512" cy="100584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640080" cy="109728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400">
                <a:solidFill>
                  <a:srgbClr val="E0A93C"/>
                </a:solidFill>
                <a:latin typeface="Segoe UI Semibold"/>
              </a:rPr>
              <a:t>FINAL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48840"/>
            <a:ext cx="7680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MadeWithDetermination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E0A93C"/>
                </a:solidFill>
                <a:latin typeface="Segoe UI Semibold"/>
              </a:rPr>
              <a:t>Online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3CDDB"/>
                </a:solidFill>
                <a:latin typeface="Segoe UI"/>
              </a:rPr>
              <a:t>A complete e-commerce platform — customer storefront and business back office.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57800"/>
            <a:ext cx="4023360" cy="12700"/>
          </a:xfrm>
          <a:prstGeom prst="rect">
            <a:avLst/>
          </a:prstGeom>
          <a:solidFill>
            <a:srgbClr val="33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6B6"/>
                </a:solidFill>
                <a:latin typeface="Segoe UI"/>
              </a:rPr>
              <a:t>Delivered by </a:t>
            </a:r>
            <a:r>
              <a:rPr sz="1500" b="1" i="0">
                <a:solidFill>
                  <a:srgbClr val="FFFFFF"/>
                </a:solidFill>
                <a:latin typeface="Segoe UI Semibold"/>
              </a:rPr>
              <a:t>Made With Determination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6B6"/>
                </a:solidFill>
                <a:latin typeface="Segoe UI"/>
              </a:rPr>
              <a:t>July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One platform to sell online and run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583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 i="0">
                <a:solidFill>
                  <a:srgbClr val="222B38"/>
                </a:solidFill>
                <a:latin typeface="Segoe UI"/>
              </a:rPr>
              <a:t>We delivered a full online store where your customers can browse products, buy and pay securely, and track their orders — with no account required to get started.</a:t>
            </a:r>
          </a:p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222B38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700" b="0" i="0">
                <a:solidFill>
                  <a:srgbClr val="222B38"/>
                </a:solidFill>
                <a:latin typeface="Segoe UI"/>
              </a:rPr>
              <a:t>Behind it sits a complete management back office. Your team controls the entire catalog, prices, promotions, stock, orders, customers, and website content from a single secure admin area — no developer needed for day-to-day work.</a:t>
            </a:r>
          </a:p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222B38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700" b="0" i="0">
                <a:solidFill>
                  <a:srgbClr val="222B38"/>
                </a:solidFill>
                <a:latin typeface="Segoe UI"/>
              </a:rPr>
              <a:t>The result replaces manual, scattered processes with one connected system that is available around the clock and ready to grow with the business.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4069080" cy="4160520"/>
          </a:xfrm>
          <a:prstGeom prst="roundRect">
            <a:avLst>
              <a:gd name="adj" fmla="val 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0312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200">
                <a:solidFill>
                  <a:srgbClr val="E0A93C"/>
                </a:solidFill>
                <a:latin typeface="Segoe UI Semibold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1460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99008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3CDDB"/>
                </a:solidFill>
                <a:latin typeface="Segoe UI"/>
              </a:rPr>
              <a:t>connected apps — storefront +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38328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85876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3CDDB"/>
                </a:solidFill>
                <a:latin typeface="Segoe UI"/>
              </a:rPr>
              <a:t>business capabilities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25196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72744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3CDDB"/>
                </a:solidFill>
                <a:latin typeface="Segoe UI"/>
              </a:rPr>
              <a:t>online availability for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120640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596128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3CDDB"/>
                </a:solidFill>
                <a:latin typeface="Segoe UI"/>
              </a:rPr>
              <a:t>languages — English &amp; Arabic (RTL)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What the business set out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Sell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Give customers a modern, trustworthy place to browse and buy at any hour.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Make paying 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Accept secure online payments with a simple, guest-friendly checkout.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9328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Stay in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Let staff manage products, prices, stock and orders without technical help.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Keep customers informed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Let shoppers track orders and manage their own accounts.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Reach a wider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Support English and Arabic, including full right-to-left layout.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9328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Grow with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Build on a secure foundation that can scale as the business expands.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Capabilities, grouped by who uses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440680" cy="548640"/>
          </a:xfrm>
          <a:prstGeom prst="roundRect">
            <a:avLst>
              <a:gd name="adj" fmla="val 1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892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For your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Browse products by category, search and filter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Read and leave product ratings &amp; reviews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Save favourites to a wishlist and compare products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Secure online checkout — as guest or member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Track any order by number &amp; email, no login needed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Personal account with full order history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Read news, About, FAQ and contact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440680" cy="548640"/>
          </a:xfrm>
          <a:prstGeom prst="roundRect">
            <a:avLst>
              <a:gd name="adj" fmla="val 1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74519"/>
            <a:ext cx="4892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For your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51460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724912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Manage the full product catalog, images &amp; pricing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Process and fulfil customer orders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Manage customers, staff users and their roles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Run promotions, taxes, shipping &amp; payment options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Track stock levels and inventory movements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Edit website content, pages, menus &amp; news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50" b="0" i="0">
                <a:solidFill>
                  <a:srgbClr val="222B38"/>
                </a:solidFill>
                <a:latin typeface="Segoe UI"/>
              </a:rPr>
              <a:t>Business dashboard with sales &amp; revenue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FEATURE WALKTHROUGH —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Shop and check out in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 w="15875">
            <a:solidFill>
              <a:srgbClr val="E0A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5243B"/>
                </a:solidFill>
                <a:latin typeface="Segoe UI Semibold"/>
              </a:rPr>
              <a:t>Customers can buy anytime, from any device — no phone calls, no waiting.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48920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Discover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browse categories, search, and open a product.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Decide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view images, price and reviews; add to cart or wishlist.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Checkout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review the cart and check out as guest or member.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Pay securely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pay online through trusted payment providers.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Confirmed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get an instant order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5833872" cy="4343400"/>
          </a:xfrm>
          <a:prstGeom prst="roundRect">
            <a:avLst>
              <a:gd name="adj" fmla="val 2000"/>
            </a:avLst>
          </a:prstGeom>
          <a:solidFill>
            <a:srgbClr val="ECEFF4"/>
          </a:solidFill>
          <a:ln w="22225">
            <a:solidFill>
              <a:srgbClr val="B4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3387852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B4BECC"/>
                </a:solidFill>
                <a:latin typeface="Segoe UI"/>
              </a:rPr>
              <a:t>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4000500"/>
            <a:ext cx="5833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7A8696"/>
                </a:solidFill>
                <a:latin typeface="Segoe UI Semibold"/>
              </a:rPr>
              <a:t>[SCREENSHOT: Storefront — Product &amp; Checkout]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411980"/>
            <a:ext cx="5833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B4BECC"/>
                </a:solidFill>
                <a:latin typeface="Segoe UI"/>
              </a:rPr>
              <a:t>Paste screenshot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FEATURE WALKTHROUGH —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Self-service order tracking &amp;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 w="15875">
            <a:solidFill>
              <a:srgbClr val="E0A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5243B"/>
                </a:solidFill>
                <a:latin typeface="Segoe UI Semibold"/>
              </a:rPr>
              <a:t>Fewer “where is my order?” enquiries — customers check status themselves.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48920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Track instantly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look up any order with its number and email.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No account needed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guests get full visibility, no sign-in required.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Member accounts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registered customers see their full order history.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Order details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drill into items, totals and current status.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Stay informed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clear status at every stage of fulfilment.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5833872" cy="4343400"/>
          </a:xfrm>
          <a:prstGeom prst="roundRect">
            <a:avLst>
              <a:gd name="adj" fmla="val 2000"/>
            </a:avLst>
          </a:prstGeom>
          <a:solidFill>
            <a:srgbClr val="ECEFF4"/>
          </a:solidFill>
          <a:ln w="22225">
            <a:solidFill>
              <a:srgbClr val="B4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3387852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B4BECC"/>
                </a:solidFill>
                <a:latin typeface="Segoe UI"/>
              </a:rPr>
              <a:t>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4000500"/>
            <a:ext cx="5833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7A8696"/>
                </a:solidFill>
                <a:latin typeface="Segoe UI Semibold"/>
              </a:rPr>
              <a:t>[SCREENSHOT: Order Tracking Page]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411980"/>
            <a:ext cx="5833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B4BECC"/>
                </a:solidFill>
                <a:latin typeface="Segoe UI"/>
              </a:rPr>
              <a:t>Paste screenshot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FEATURE WALKTHROUGH —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Run the whole business from one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4892040" cy="86868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 w="15875">
            <a:solidFill>
              <a:srgbClr val="E0A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5243B"/>
                </a:solidFill>
                <a:latin typeface="Segoe UI Semibold"/>
              </a:rPr>
              <a:t>Your team manages the entire store without needing a developer.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48920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Dashboard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see sales, revenue and key metrics at a glance.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Catalog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add and edit products, images, prices and options.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Orders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process orders and update fulfilment status.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Marketing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run promotions and manage shipping &amp; taxes.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1" i="0">
                <a:solidFill>
                  <a:srgbClr val="222B38"/>
                </a:solidFill>
                <a:latin typeface="Segoe UI Semibold"/>
              </a:rPr>
              <a:t>Content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edit pages, menus and news — moderate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5833872" cy="4343400"/>
          </a:xfrm>
          <a:prstGeom prst="roundRect">
            <a:avLst>
              <a:gd name="adj" fmla="val 2000"/>
            </a:avLst>
          </a:prstGeom>
          <a:solidFill>
            <a:srgbClr val="ECEFF4"/>
          </a:solidFill>
          <a:ln w="22225">
            <a:solidFill>
              <a:srgbClr val="B4BE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3387852"/>
            <a:ext cx="5833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B4BECC"/>
                </a:solidFill>
                <a:latin typeface="Segoe UI"/>
              </a:rPr>
              <a:t>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4000500"/>
            <a:ext cx="5833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7A8696"/>
                </a:solidFill>
                <a:latin typeface="Segoe UI Semibold"/>
              </a:rPr>
              <a:t>[SCREENSHOT: Admin Dashboard &amp; Management]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411980"/>
            <a:ext cx="5833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B4BECC"/>
                </a:solidFill>
                <a:latin typeface="Segoe UI"/>
              </a:rPr>
              <a:t>Paste screenshot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BENEFITS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What this changes for the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Open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Sales no longer stop at closing time — the store takes orders around the clock,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Less manual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Orders, payments and stock updates flow through one system instead of spreadsheets and phone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9328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Fewer support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Self-service order tracking and accounts cut down on “where is my order?”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Clear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 live dashboard turns daily activity into sales and revenue insight for better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Wider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Full English &amp; Arabic support opens the store to a broader, bilingual audience.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9328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In-house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Staff update products, prices, promotions and content themselves — no developer bottleneck.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How to access and use your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67127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00">
                <a:solidFill>
                  <a:srgbClr val="15243B"/>
                </a:solidFill>
                <a:latin typeface="Segoe UI Semibold"/>
              </a:rPr>
              <a:t>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7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5243B"/>
                </a:solidFill>
                <a:latin typeface="Segoe UI Semibold"/>
              </a:rPr>
              <a:t>Customer storefront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19"/>
            <a:ext cx="4846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Web address: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[ your live store URL ]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Who uses it: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your customers — open to everyone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Sign-in: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optional — guests can shop &amp; check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270247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70247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00">
                <a:solidFill>
                  <a:srgbClr val="15243B"/>
                </a:solidFill>
                <a:latin typeface="Segoe UI Semibold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18887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5243B"/>
                </a:solidFill>
                <a:latin typeface="Segoe UI Semibold"/>
              </a:rPr>
              <a:t>Management back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39"/>
            <a:ext cx="4846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Web address: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[ your admin URL ]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Who uses it: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your staff — access by role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6B7787"/>
                </a:solidFill>
                <a:latin typeface="Segoe UI"/>
              </a:rPr>
              <a:t>Sign-in: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[ admin email ]  /  [ password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349240" cy="4069080"/>
          </a:xfrm>
          <a:prstGeom prst="roundRect">
            <a:avLst>
              <a:gd name="adj" fmla="val 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A93C"/>
                </a:solidFill>
                <a:latin typeface="Segoe UI Semibold"/>
              </a:rPr>
              <a:t>First steps for your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45262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5243B"/>
                </a:solidFill>
                <a:latin typeface="Segoe UI Semibold"/>
              </a:rPr>
              <a:t> 1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</a:t>
            </a:r>
            <a:r>
              <a:rPr sz="1400" b="0" i="0">
                <a:solidFill>
                  <a:srgbClr val="DDE4EE"/>
                </a:solidFill>
                <a:latin typeface="Segoe UI"/>
              </a:rPr>
              <a:t>Open the admin address and sign in with your account.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5243B"/>
                </a:solidFill>
                <a:latin typeface="Segoe UI Semibold"/>
              </a:rPr>
              <a:t> 2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</a:t>
            </a:r>
            <a:r>
              <a:rPr sz="1400" b="0" i="0">
                <a:solidFill>
                  <a:srgbClr val="DDE4EE"/>
                </a:solidFill>
                <a:latin typeface="Segoe UI"/>
              </a:rPr>
              <a:t>Review the dashboard to see today's activity.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5243B"/>
                </a:solidFill>
                <a:latin typeface="Segoe UI Semibold"/>
              </a:rPr>
              <a:t> 3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</a:t>
            </a:r>
            <a:r>
              <a:rPr sz="1400" b="0" i="0">
                <a:solidFill>
                  <a:srgbClr val="DDE4EE"/>
                </a:solidFill>
                <a:latin typeface="Segoe UI"/>
              </a:rPr>
              <a:t>Check and process any new customer orders.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5243B"/>
                </a:solidFill>
                <a:latin typeface="Segoe UI Semibold"/>
              </a:rPr>
              <a:t> 4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</a:t>
            </a:r>
            <a:r>
              <a:rPr sz="1400" b="0" i="0">
                <a:solidFill>
                  <a:srgbClr val="DDE4EE"/>
                </a:solidFill>
                <a:latin typeface="Segoe UI"/>
              </a:rPr>
              <a:t>Add or update products, prices and stock.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5243B"/>
                </a:solidFill>
                <a:latin typeface="Segoe UI Semibold"/>
              </a:rPr>
              <a:t> 5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 </a:t>
            </a:r>
            <a:r>
              <a:rPr sz="1400" b="0" i="0">
                <a:solidFill>
                  <a:srgbClr val="DDE4EE"/>
                </a:solidFill>
                <a:latin typeface="Segoe UI"/>
              </a:rPr>
              <a:t>Publish news or edit website content as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8640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9AA6B6"/>
                </a:solidFill>
                <a:latin typeface="Segoe UI"/>
              </a:rPr>
              <a:t>A full step-by-step guide is included in your documentation.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DOCUMENTATION &amp;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Everything you need to run it confidently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 plain-language walkthrough of the storefront and every admin 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Live training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 guided handover session with your team, with time for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9328" y="222199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20370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Quick-start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89864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 one-page cheat sheet for the most common daily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Admin how-to guides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Short task recipes: add a product, process an order, run a promotion.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Content &amp; translation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How to edit pages, news and English/Arabic content.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9328" y="43708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4352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Recorded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50474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Session recording and notes to onboard future staff.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SUPPORT &amp;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We stay with you after go-live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852160" cy="548640"/>
          </a:xfrm>
          <a:prstGeom prst="roundRect">
            <a:avLst>
              <a:gd name="adj" fmla="val 1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30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What's 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852160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51663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Fixing any issues or defects that arise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Security updates and routine maintenance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Help and guidance for your team when needed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Regular backups and monitoring of the platform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450" b="0" i="0">
                <a:solidFill>
                  <a:srgbClr val="222B38"/>
                </a:solidFill>
                <a:latin typeface="Segoe UI"/>
              </a:rPr>
              <a:t>Small content and configuration adjustments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74519"/>
            <a:ext cx="4983480" cy="4069080"/>
          </a:xfrm>
          <a:prstGeom prst="roundRect">
            <a:avLst>
              <a:gd name="adj" fmla="val 4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14884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A93C"/>
                </a:solidFill>
                <a:latin typeface="Segoe UI Semibold"/>
              </a:rPr>
              <a:t>How to reach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788920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9AA6B6"/>
                </a:solidFill>
                <a:latin typeface="Segoe UI"/>
              </a:rPr>
              <a:t>SUPPORT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063239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support email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547872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9AA6B6"/>
                </a:solidFill>
                <a:latin typeface="Segoe UI"/>
              </a:rPr>
              <a:t>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822191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phone number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306824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9AA6B6"/>
                </a:solidFill>
                <a:latin typeface="Segoe UI"/>
              </a:rPr>
              <a:t>RESPONSE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581144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e.g. within 1 business day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065776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9AA6B6"/>
                </a:solidFill>
                <a:latin typeface="Segoe UI"/>
              </a:rPr>
              <a:t>SUPPORT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340096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[ e.g. Sun–Thu, 9am–5pm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Optional future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787"/>
                </a:solidFill>
                <a:latin typeface="Segoe UI"/>
              </a:rPr>
              <a:t>Ideas for growth — none required today; the platform is fully delivered and ready to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5877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5694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Marketing &amp; loyalty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6440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Email campaigns, discount codes, abandoned-cart reminders and a loyalty programme.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33172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5877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94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26440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 dedicated smartphone app for an even smoother shopping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33172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39328" y="25877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56946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Deeper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26440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Richer reporting on customers, best-sellers and marketing performance.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45994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5811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760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Connect to accounting, shipping carriers or a warehouse system.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3434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0" y="45994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5811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More payment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2760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Add local wallets and buy-now-pay-later providers.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43434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39328" y="459943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 i="0">
                <a:solidFill>
                  <a:srgbClr val="E0A93C"/>
                </a:solidFill>
                <a:latin typeface="Segoe UI Symbo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45811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243B"/>
                </a:solidFill>
                <a:latin typeface="Segoe UI Semibold"/>
              </a:rPr>
              <a:t>Personalisation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5276088"/>
            <a:ext cx="306324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B7787"/>
                </a:solidFill>
                <a:latin typeface="Segoe UI"/>
              </a:rPr>
              <a:t>Product recommendations tailored to each shopper.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54864" cy="6858000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280160"/>
            <a:ext cx="2377440" cy="91440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35440" y="2103120"/>
            <a:ext cx="2231136" cy="91440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0" y="2926080"/>
            <a:ext cx="2084832" cy="91440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5440" y="3749039"/>
            <a:ext cx="1938528" cy="91440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4572000"/>
            <a:ext cx="1792224" cy="91440"/>
          </a:xfrm>
          <a:prstGeom prst="rect">
            <a:avLst/>
          </a:prstGeom>
          <a:solidFill>
            <a:srgbClr val="2A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640080" cy="109728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1168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7406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3CDDB"/>
                </a:solidFill>
                <a:latin typeface="Segoe UI"/>
              </a:rPr>
              <a:t>It's been a pleasure building your online store. We're proud to hand over a platform that's ready to grow with your business.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4023360" cy="12700"/>
          </a:xfrm>
          <a:prstGeom prst="rect">
            <a:avLst/>
          </a:prstGeom>
          <a:solidFill>
            <a:srgbClr val="33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0A93C"/>
                </a:solidFill>
                <a:latin typeface="Segoe UI Semibold"/>
              </a:rPr>
              <a:t>Made With Determination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6B6"/>
                </a:solidFill>
                <a:latin typeface="Segoe UI"/>
              </a:rPr>
              <a:t>Email: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[ your email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76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6B6"/>
                </a:solidFill>
                <a:latin typeface="Segoe UI"/>
              </a:rPr>
              <a:t>Phone: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[ your phone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013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6B6"/>
                </a:solidFill>
                <a:latin typeface="Segoe UI"/>
              </a:rPr>
              <a:t>Website: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[ your website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solidFill>
            <a:srgbClr val="E0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B98622"/>
                </a:solidFill>
                <a:latin typeface="Segoe UI Semibold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43B"/>
                </a:solidFill>
                <a:latin typeface="Segoe UI Semibold"/>
              </a:rPr>
              <a:t>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787"/>
                </a:solidFill>
                <a:latin typeface="Segoe UI"/>
              </a:rPr>
              <a:t>For technical stakeholders — not needed for day-to-day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486400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800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Storefront &amp; admin: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Angular 22 (web apps)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Storefront rendering: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server-side rendered for search-engine visibility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Back-end API: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ASP.NET Core on .NET 10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Database: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Microsoft SQL Server with EF Core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Payments: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Stripe, PayPal Express, MEPS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E0A93C"/>
                </a:solidFill>
                <a:latin typeface="Segoe UI"/>
              </a:rPr>
              <a:t>▬  </a:t>
            </a:r>
            <a:r>
              <a:rPr sz="1300" b="1" i="0">
                <a:solidFill>
                  <a:srgbClr val="222B38"/>
                </a:solidFill>
                <a:latin typeface="Segoe UI Semibold"/>
              </a:rPr>
              <a:t>Languages: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English &amp; Arabic, with right-to-left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49240" cy="502920"/>
          </a:xfrm>
          <a:prstGeom prst="roundRect">
            <a:avLst>
              <a:gd name="adj" fmla="val 15000"/>
            </a:avLst>
          </a:prstGeom>
          <a:solidFill>
            <a:srgbClr val="1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800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Security &amp; 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60320"/>
            <a:ext cx="5349240" cy="3383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61488"/>
            <a:ext cx="46634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Secure sign-in with encrypted passwords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Role-based access — staff see only their areas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Payment card data handled by certified providers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Protected admin actions with an audit trail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Encrypted connections (HTTPS) throughout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5243B"/>
                </a:solidFill>
                <a:latin typeface="Segoe UI"/>
              </a:rPr>
              <a:t>▬  </a:t>
            </a:r>
            <a:r>
              <a:rPr sz="1300" b="0" i="0">
                <a:solidFill>
                  <a:srgbClr val="222B38"/>
                </a:solidFill>
                <a:latin typeface="Segoe UI"/>
              </a:rPr>
              <a:t>Regular backups and 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00800"/>
            <a:ext cx="11091672" cy="9525"/>
          </a:xfrm>
          <a:prstGeom prst="rect">
            <a:avLst/>
          </a:prstGeom>
          <a:solidFill>
            <a:srgbClr val="E1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787"/>
                </a:solidFill>
                <a:latin typeface="Segoe UI"/>
              </a:rPr>
              <a:t>MadeWithDetermination Online Store  ·  Final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473952"/>
            <a:ext cx="1856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787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